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108960"/>
            <a:ext cx="5029200" cy="5029200"/>
          </a:xfrm>
          <a:prstGeom prst="ellipse">
            <a:avLst/>
          </a:prstGeom>
          <a:solidFill>
            <a:srgbClr val="14A8A0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132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HOME MANAGEMENT SYSTEM (NHMS)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Discovery Analysis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EHR/EMR &amp; ERP cho Long-Term Care — quản lý vận hành viện dưỡng lão (U.S. market)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/ 4 functional groups</a:t>
            </a:r>
            <a:pPr indent="0" marL="0">
              <a:buNone/>
            </a:pPr>
            <a:r>
              <a:rPr lang="en-US" sz="1300" dirty="0">
                <a:solidFill>
                  <a:srgbClr val="9F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1-month simulation scope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SYSTEM NATURE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Lĩnh vực &amp; bản chất hệ thống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operational platform, not a static database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vận hành, không phải kho dữ liệu tĩnh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Technology / Long-Term Care (LTC) / Nursing Home Management — U.S. market.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66360" y="2926080"/>
            <a:ext cx="1828800" cy="18288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3375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6636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6636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C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gravity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11680" y="274320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11680" y="2743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21040" y="274320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2743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280160" y="384048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016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052560" y="384048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5256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377440" y="489204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77440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55280" y="489204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models &amp; workflows revolve around the resident's care lifecycle. Value = connecting data across departments, not just storing it.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PAIN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điểm đau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pain points across the care operation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Tám điểm đau xuyên suốt vận hành chăm sóc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2606040" cy="640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resident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1363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History/allergies/POA scattered → stale, duplicate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148840"/>
            <a:ext cx="2606040" cy="640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624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intake assessment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20440" y="31363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can't compute risk/LOC/fee fast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48840"/>
            <a:ext cx="2606040" cy="640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624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care personalization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31363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needs missed without auto triggers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15400" y="21488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15400" y="2148840"/>
            <a:ext cx="2606040" cy="640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2624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daily care tasks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98280" y="31363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Vitals/bathing/feeding skipped on paper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069080"/>
            <a:ext cx="2606040" cy="640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544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medication admin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" y="50566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dose / missed window / interactions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406908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4069080"/>
            <a:ext cx="2606040" cy="640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20440" y="4544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Acuity-blind scheduling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20440" y="50566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not tied to care level → violations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406908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4069080"/>
            <a:ext cx="2606040" cy="640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4544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billing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09360" y="50566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rises but invoice not updated → leakage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15400" y="406908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915400" y="4069080"/>
            <a:ext cx="2606040" cy="6400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3" name="Text 41"/>
          <p:cNvSpPr/>
          <p:nvPr/>
        </p:nvSpPr>
        <p:spPr>
          <a:xfrm>
            <a:off x="909828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098280" y="4544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family transparency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098280" y="50566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 channel → high inquiry volume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/ ACTOR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/ mô hình actor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and external actors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nội bộ và bên ngoài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704088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03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ACTORS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06040" y="2697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config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0" y="26974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697480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2697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Census, compliance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74136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741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Staff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33741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intake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0" y="3374136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374136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33741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(LPN/RN)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33741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Assessment, eMAR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50792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050792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(CNA)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06040" y="4050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tasks, logs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0" y="4050792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4050792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40507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Specialist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4050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sign-off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727448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727448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7274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Nutritionist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606040" y="472744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Diets, allergens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0" y="4727448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4727448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0" y="47274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Shift Coord.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72200" y="472744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Schedules, ratios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404104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404104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4041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Staff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606040" y="54041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payments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14800" y="5404104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0" y="5404104"/>
            <a:ext cx="64008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6" name="Text 44"/>
          <p:cNvSpPr/>
          <p:nvPr/>
        </p:nvSpPr>
        <p:spPr>
          <a:xfrm>
            <a:off x="4297680" y="54041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172200" y="54041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governance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818120" y="2103120"/>
            <a:ext cx="3813048" cy="45720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9" name="Text 47"/>
          <p:cNvSpPr/>
          <p:nvPr/>
        </p:nvSpPr>
        <p:spPr>
          <a:xfrm>
            <a:off x="79552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ACTORS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818120" y="2697480"/>
            <a:ext cx="3813048" cy="566928"/>
          </a:xfrm>
          <a:prstGeom prst="roundRect">
            <a:avLst>
              <a:gd name="adj" fmla="val 8065"/>
            </a:avLst>
          </a:prstGeom>
          <a:solidFill>
            <a:srgbClr val="FBF1E1"/>
          </a:solidFill>
          <a:ln w="12700">
            <a:solidFill>
              <a:srgbClr val="EAD6A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18120" y="2697480"/>
            <a:ext cx="64008" cy="56692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52" name="Text 50"/>
          <p:cNvSpPr/>
          <p:nvPr/>
        </p:nvSpPr>
        <p:spPr>
          <a:xfrm>
            <a:off x="8001000" y="2697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Guardian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0058400" y="269748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payment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818120" y="3374136"/>
            <a:ext cx="3813048" cy="566928"/>
          </a:xfrm>
          <a:prstGeom prst="roundRect">
            <a:avLst>
              <a:gd name="adj" fmla="val 8065"/>
            </a:avLst>
          </a:prstGeom>
          <a:solidFill>
            <a:srgbClr val="FBF1E1"/>
          </a:solidFill>
          <a:ln w="12700">
            <a:solidFill>
              <a:srgbClr val="EAD6A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18120" y="3374136"/>
            <a:ext cx="64008" cy="56692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56" name="Text 54"/>
          <p:cNvSpPr/>
          <p:nvPr/>
        </p:nvSpPr>
        <p:spPr>
          <a:xfrm>
            <a:off x="8001000" y="33741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0058400" y="337413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 care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818120" y="4050792"/>
            <a:ext cx="3813048" cy="566928"/>
          </a:xfrm>
          <a:prstGeom prst="roundRect">
            <a:avLst>
              <a:gd name="adj" fmla="val 8065"/>
            </a:avLst>
          </a:prstGeom>
          <a:solidFill>
            <a:srgbClr val="FBF1E1"/>
          </a:solidFill>
          <a:ln w="12700">
            <a:solidFill>
              <a:srgbClr val="EAD6A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18120" y="4050792"/>
            <a:ext cx="64008" cy="56692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60" name="Text 58"/>
          <p:cNvSpPr/>
          <p:nvPr/>
        </p:nvSpPr>
        <p:spPr>
          <a:xfrm>
            <a:off x="8001000" y="40507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Owner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058400" y="40507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Sponsor, accepts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818120" y="4727448"/>
            <a:ext cx="3813048" cy="566928"/>
          </a:xfrm>
          <a:prstGeom prst="roundRect">
            <a:avLst>
              <a:gd name="adj" fmla="val 8065"/>
            </a:avLst>
          </a:prstGeom>
          <a:solidFill>
            <a:srgbClr val="FBF1E1"/>
          </a:solidFill>
          <a:ln w="12700">
            <a:solidFill>
              <a:srgbClr val="EAD6A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18120" y="4727448"/>
            <a:ext cx="64008" cy="56692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64" name="Text 62"/>
          <p:cNvSpPr/>
          <p:nvPr/>
        </p:nvSpPr>
        <p:spPr>
          <a:xfrm>
            <a:off x="8001000" y="47274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partners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0058400" y="472744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insurer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818120" y="5404104"/>
            <a:ext cx="3813048" cy="566928"/>
          </a:xfrm>
          <a:prstGeom prst="roundRect">
            <a:avLst>
              <a:gd name="adj" fmla="val 8065"/>
            </a:avLst>
          </a:prstGeom>
          <a:solidFill>
            <a:srgbClr val="FBF1E1"/>
          </a:solidFill>
          <a:ln w="12700">
            <a:solidFill>
              <a:srgbClr val="EAD6A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18120" y="5404104"/>
            <a:ext cx="64008" cy="56692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68" name="Text 66"/>
          <p:cNvSpPr/>
          <p:nvPr/>
        </p:nvSpPr>
        <p:spPr>
          <a:xfrm>
            <a:off x="8001000" y="54041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surveyor (HHS)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0058400" y="540410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survey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INTEGRATION — THE BACKBONE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dữ liệu tập trung — xương sống hệ thống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assessment drives the whole operation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6384C"/>
          </a:solidFill>
          <a:ln w="1651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5420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6974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337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48640" y="37307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metrics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40280" y="306324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404872" y="228600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6384C"/>
          </a:solidFill>
          <a:ln w="16510">
            <a:solidFill>
              <a:srgbClr val="14A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53512" y="2542032"/>
            <a:ext cx="658368" cy="658368"/>
          </a:xfrm>
          <a:prstGeom prst="ellipse">
            <a:avLst/>
          </a:prstGeom>
          <a:solidFill>
            <a:srgbClr val="14A8A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6974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6312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404872" y="3337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Level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450592" y="37307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classification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142232" y="306324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4306824" y="228600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6384C"/>
          </a:solidFill>
          <a:ln w="16510">
            <a:solidFill>
              <a:srgbClr val="0E7C7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55464" y="25420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697480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98264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306824" y="3337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4352544" y="37307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tasks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044184" y="306324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1"/>
          <p:cNvSpPr/>
          <p:nvPr/>
        </p:nvSpPr>
        <p:spPr>
          <a:xfrm>
            <a:off x="6208776" y="228600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6384C"/>
          </a:solidFill>
          <a:ln w="16510">
            <a:solidFill>
              <a:srgbClr val="2E8B6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757416" y="2542032"/>
            <a:ext cx="658368" cy="658368"/>
          </a:xfrm>
          <a:prstGeom prst="ellipse">
            <a:avLst/>
          </a:prstGeom>
          <a:solidFill>
            <a:srgbClr val="2E8B6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697480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00216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208776" y="3337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 Tasks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254496" y="37307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checklists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946136" y="306324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3" name="Shape 27"/>
          <p:cNvSpPr/>
          <p:nvPr/>
        </p:nvSpPr>
        <p:spPr>
          <a:xfrm>
            <a:off x="8110728" y="228600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6384C"/>
          </a:solidFill>
          <a:ln w="16510">
            <a:solidFill>
              <a:srgbClr val="E08A1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659368" y="2542032"/>
            <a:ext cx="658368" cy="658368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16" y="2697480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20216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8110728" y="3337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156448" y="37307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Acuity recalculated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9848088" y="306324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40" name="Shape 33"/>
          <p:cNvSpPr/>
          <p:nvPr/>
        </p:nvSpPr>
        <p:spPr>
          <a:xfrm>
            <a:off x="10012680" y="2286000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16384C"/>
          </a:solidFill>
          <a:ln w="16510">
            <a:solidFill>
              <a:srgbClr val="B3261E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10561320" y="2542032"/>
            <a:ext cx="658368" cy="65836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6768" y="2697480"/>
            <a:ext cx="347472" cy="34747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10412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10012680" y="33375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10058400" y="3730752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at LOC rate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48640" y="5074920"/>
            <a:ext cx="11082528" cy="960120"/>
          </a:xfrm>
          <a:prstGeom prst="roundRect">
            <a:avLst>
              <a:gd name="adj" fmla="val 5714"/>
            </a:avLst>
          </a:prstGeom>
          <a:solidFill>
            <a:srgbClr val="0E7C7B">
              <a:alpha val="88000"/>
            </a:srgbClr>
          </a:solidFill>
          <a:ln/>
        </p:spPr>
      </p:sp>
      <p:sp>
        <p:nvSpPr>
          <p:cNvPr id="47" name="Text 39"/>
          <p:cNvSpPr/>
          <p:nvPr/>
        </p:nvSpPr>
        <p:spPr>
          <a:xfrm>
            <a:off x="822960" y="50749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 </a:t>
            </a:r>
            <a:pPr indent="0" marL="0">
              <a:buNone/>
            </a:pPr>
            <a:r>
              <a:rPr lang="en-US" sz="1250" dirty="0">
                <a:solidFill>
                  <a:srgbClr val="EA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records mobility decline → inject "Transfer Assistance" task → recalibrate staffing for higher acuity → update invoice to new LOC rate. No data entered twice.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MODULE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module thống nhất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Reconciling 8 architecture groups ↔ 12 modules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nhất 8 nhóm kiến trúc ↔ 12 module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761488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1031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Clinical &amp; Resident Care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2761488" cy="960120"/>
          </a:xfrm>
          <a:prstGeom prst="roundRect">
            <a:avLst>
              <a:gd name="adj" fmla="val 5714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24912"/>
            <a:ext cx="64008" cy="960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163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Intake &amp; EHR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1272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Profile · Admission &amp; Assessment · Care Level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2761488" cy="960120"/>
          </a:xfrm>
          <a:prstGeom prst="roundRect">
            <a:avLst>
              <a:gd name="adj" fmla="val 5714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76472"/>
            <a:ext cx="64008" cy="960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6791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Care Planning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17880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 · Daily Care Tasks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828032"/>
            <a:ext cx="2761488" cy="960120"/>
          </a:xfrm>
          <a:prstGeom prst="roundRect">
            <a:avLst>
              <a:gd name="adj" fmla="val 5714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828032"/>
            <a:ext cx="64008" cy="960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1947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eMAR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23036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/ eMAR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0" y="2103120"/>
            <a:ext cx="2761488" cy="502920"/>
          </a:xfrm>
          <a:prstGeom prst="rect">
            <a:avLst/>
          </a:prstGeom>
          <a:solidFill>
            <a:srgbClr val="14A8A0"/>
          </a:solidFill>
          <a:ln/>
        </p:spPr>
      </p:sp>
      <p:sp>
        <p:nvSpPr>
          <p:cNvPr id="21" name="Text 19"/>
          <p:cNvSpPr/>
          <p:nvPr/>
        </p:nvSpPr>
        <p:spPr>
          <a:xfrm>
            <a:off x="3584448" y="21031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Operations &amp; Workforce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0" y="2724912"/>
            <a:ext cx="2761488" cy="960120"/>
          </a:xfrm>
          <a:prstGeom prst="roundRect">
            <a:avLst>
              <a:gd name="adj" fmla="val 5714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724912"/>
            <a:ext cx="64008" cy="960120"/>
          </a:xfrm>
          <a:prstGeom prst="rect">
            <a:avLst/>
          </a:prstGeom>
          <a:solidFill>
            <a:srgbClr val="14A8A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28163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Staff Scheduling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0" y="31272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Shift Management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3776472"/>
            <a:ext cx="2761488" cy="960120"/>
          </a:xfrm>
          <a:prstGeom prst="roundRect">
            <a:avLst>
              <a:gd name="adj" fmla="val 5714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776472"/>
            <a:ext cx="64008" cy="960120"/>
          </a:xfrm>
          <a:prstGeom prst="rect">
            <a:avLst/>
          </a:prstGeom>
          <a:solidFill>
            <a:srgbClr val="14A8A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86791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Dining &amp; Dietary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57600" y="417880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&amp; Nutrition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2103120"/>
            <a:ext cx="2761488" cy="502920"/>
          </a:xfrm>
          <a:prstGeom prst="rect">
            <a:avLst/>
          </a:prstGeom>
          <a:solidFill>
            <a:srgbClr val="2E8B6E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21031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Billing &amp; Financials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0" y="2724912"/>
            <a:ext cx="2761488" cy="960120"/>
          </a:xfrm>
          <a:prstGeom prst="roundRect">
            <a:avLst>
              <a:gd name="adj" fmla="val 5714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724912"/>
            <a:ext cx="64008" cy="960120"/>
          </a:xfrm>
          <a:prstGeom prst="rect">
            <a:avLst/>
          </a:prstGeom>
          <a:solidFill>
            <a:srgbClr val="2E8B6E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28163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Billing &amp; RCM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83680" y="31272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Invoice / Payment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26880" y="2103120"/>
            <a:ext cx="2761488" cy="50292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7" name="Text 35"/>
          <p:cNvSpPr/>
          <p:nvPr/>
        </p:nvSpPr>
        <p:spPr>
          <a:xfrm>
            <a:off x="9436608" y="21031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Compliance &amp; Engagement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326880" y="2724912"/>
            <a:ext cx="2761488" cy="960120"/>
          </a:xfrm>
          <a:prstGeom prst="roundRect">
            <a:avLst>
              <a:gd name="adj" fmla="val 5714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0" y="2724912"/>
            <a:ext cx="64008" cy="96012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0" name="Text 38"/>
          <p:cNvSpPr/>
          <p:nvPr/>
        </p:nvSpPr>
        <p:spPr>
          <a:xfrm>
            <a:off x="9509760" y="281635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Incident &amp; Risk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509760" y="312724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Risk Mgmt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326880" y="3776472"/>
            <a:ext cx="2761488" cy="960120"/>
          </a:xfrm>
          <a:prstGeom prst="roundRect">
            <a:avLst>
              <a:gd name="adj" fmla="val 5714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26880" y="3776472"/>
            <a:ext cx="64008" cy="96012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4" name="Text 42"/>
          <p:cNvSpPr/>
          <p:nvPr/>
        </p:nvSpPr>
        <p:spPr>
          <a:xfrm>
            <a:off x="9509760" y="386791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Family Portal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509760" y="4178808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Portal (+ Dashboard)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— CALIBRATED FOR A 1-MONTH SIMULATION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hiệu chỉnh cho dự án 1 tháng (mô phỏng)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analyze deep vs summary vs defer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sâu / tóm tắt / hoãn lại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8252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1371600" cy="93268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03120" y="222199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Must — DEEP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56032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Profile · Intake &amp; Assessment · Care Level · Care Plan · Daily Tasks · eMAR (basic) · Incident &amp; Risk (basic)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1108252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E08A1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45536"/>
            <a:ext cx="1371600" cy="93268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45536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03120" y="326440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Should — SUMMARY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60273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Shift (basic) · Billing (LOC-based) · Meal &amp; Nutrition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1108252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2E8B6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87952"/>
            <a:ext cx="1371600" cy="932688"/>
          </a:xfrm>
          <a:prstGeom prst="rect">
            <a:avLst/>
          </a:prstGeom>
          <a:solidFill>
            <a:srgbClr val="2E8B6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87952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103120" y="430682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· Could — OUTLINE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4645152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 · Family Portal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230368"/>
            <a:ext cx="1108252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9AA9B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230368"/>
            <a:ext cx="1371600" cy="932688"/>
          </a:xfrm>
          <a:prstGeom prst="rect">
            <a:avLst/>
          </a:prstGeom>
          <a:solidFill>
            <a:srgbClr val="9AA9B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30368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103120" y="5349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· Won't (this sim)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568756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/ insurance / EDI engines · barcode hardware · IoT sensors · AI risk prediction · multi-facility analytics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Risk is P1 — a regulatory hard-stop (24–48h reporting, chart-lock for surveyors).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FOR THE 1-MONTH SIMULATION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cho dự án 1 tháng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Concentrate on the core care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vào core care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0E7C7B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54203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974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04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Profile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03120" y="27889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167128" y="23317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24328" y="25420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26974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21992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Assessment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21608" y="27889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3785616" y="23317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42816" y="25420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6974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Level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340096" y="27889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5404104" y="23317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861304" y="25420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69748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58968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958584" y="27889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7022592" y="23317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79792" y="25420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69748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77456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577072" y="27889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Shape 24"/>
          <p:cNvSpPr/>
          <p:nvPr/>
        </p:nvSpPr>
        <p:spPr>
          <a:xfrm>
            <a:off x="8641080" y="23317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098280" y="25420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269748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95944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eMAR (basic)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0195560" y="27889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6" name="Shape 28"/>
          <p:cNvSpPr/>
          <p:nvPr/>
        </p:nvSpPr>
        <p:spPr>
          <a:xfrm>
            <a:off x="10259568" y="2331720"/>
            <a:ext cx="1572768" cy="1737360"/>
          </a:xfrm>
          <a:prstGeom prst="roundRect">
            <a:avLst>
              <a:gd name="adj" fmla="val 4651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0716768" y="2542032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2216" y="2697480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314432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(basic)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548640" y="4526280"/>
            <a:ext cx="11082528" cy="1371600"/>
          </a:xfrm>
          <a:prstGeom prst="roundRect">
            <a:avLst>
              <a:gd name="adj" fmla="val 4667"/>
            </a:avLst>
          </a:prstGeom>
          <a:solidFill>
            <a:srgbClr val="0F2A3F"/>
          </a:solidFill>
          <a:ln/>
        </p:spPr>
      </p:sp>
      <p:sp>
        <p:nvSpPr>
          <p:cNvPr id="41" name="Text 32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scope: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1-month simulation produces BA artifacts only. Compliance (HIPAA / MDS / PDPM / EDI) is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with simplified logic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real engines, no external integrations, no IoT/AI. Depth goes to the P1 core modules; everything else stays summary-level.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&amp; NON-FUNCTIONAL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&amp; yêu cầu phi chức năng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Testable rules and quality requirements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kiểm thử được &amp; yêu cầu chất lượng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(testable)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ratio ≤ state-mandated maximum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 assessment within 14 days (SNF)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Reassessment every 90 days / on change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SNF capped at 100 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E-signed assessment cannot be altered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Pre-admission denied if capability unmet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auto-locks on incident entry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blocked on allergy/diet conflict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2057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2423160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231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60920" y="24231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storage, encryption, RBAC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252374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4A8A0"/>
          </a:solidFill>
          <a:ln/>
        </p:spPr>
      </p:sp>
      <p:sp>
        <p:nvSpPr>
          <p:cNvPr id="13" name="Text 11"/>
          <p:cNvSpPr/>
          <p:nvPr/>
        </p:nvSpPr>
        <p:spPr>
          <a:xfrm>
            <a:off x="10744200" y="2523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5080" y="2971800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9718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60920" y="29718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44200" y="307238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E8B6E"/>
          </a:solidFill>
          <a:ln/>
        </p:spPr>
      </p:sp>
      <p:sp>
        <p:nvSpPr>
          <p:cNvPr id="18" name="Text 16"/>
          <p:cNvSpPr/>
          <p:nvPr/>
        </p:nvSpPr>
        <p:spPr>
          <a:xfrm>
            <a:off x="10744200" y="30723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55080" y="3520440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520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60920" y="35204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auto-lock at incident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744200" y="362102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E8B6E"/>
          </a:solidFill>
          <a:ln/>
        </p:spPr>
      </p:sp>
      <p:sp>
        <p:nvSpPr>
          <p:cNvPr id="23" name="Text 21"/>
          <p:cNvSpPr/>
          <p:nvPr/>
        </p:nvSpPr>
        <p:spPr>
          <a:xfrm>
            <a:off x="10744200" y="36210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55080" y="4069080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690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60920" y="40690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Mobile-friendly, minimal typing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744200" y="416966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E8B6E"/>
          </a:solidFill>
          <a:ln/>
        </p:spPr>
      </p:sp>
      <p:sp>
        <p:nvSpPr>
          <p:cNvPr id="28" name="Text 26"/>
          <p:cNvSpPr/>
          <p:nvPr/>
        </p:nvSpPr>
        <p:spPr>
          <a:xfrm>
            <a:off x="10744200" y="4169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55080" y="4617720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6177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60920" y="46177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/ MDS / PDPM / EDI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744200" y="471830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4A8A0"/>
          </a:solidFill>
          <a:ln/>
        </p:spPr>
      </p:sp>
      <p:sp>
        <p:nvSpPr>
          <p:cNvPr id="33" name="Text 31"/>
          <p:cNvSpPr/>
          <p:nvPr/>
        </p:nvSpPr>
        <p:spPr>
          <a:xfrm>
            <a:off x="10744200" y="47183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55080" y="5166360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51663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60920" y="51663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within 24–48h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744200" y="526694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E8B6E"/>
          </a:solidFill>
          <a:ln/>
        </p:spPr>
      </p:sp>
      <p:sp>
        <p:nvSpPr>
          <p:cNvPr id="38" name="Text 36"/>
          <p:cNvSpPr/>
          <p:nvPr/>
        </p:nvSpPr>
        <p:spPr>
          <a:xfrm>
            <a:off x="10744200" y="5266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55080" y="5715000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EAF2F2"/>
          </a:solidFill>
          <a:ln w="12700">
            <a:solidFill>
              <a:srgbClr val="D4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7150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60920" y="57150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/ concurrency / retention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744200" y="581558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08A1E"/>
          </a:solidFill>
          <a:ln/>
        </p:spPr>
      </p:sp>
      <p:sp>
        <p:nvSpPr>
          <p:cNvPr id="43" name="Text 41"/>
          <p:cNvSpPr/>
          <p:nvPr/>
        </p:nvSpPr>
        <p:spPr>
          <a:xfrm>
            <a:off x="10744200" y="58155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rủi ro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risks with mitigations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chính kèm biện pháp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914400"/>
                <a:gridCol w="5577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(shallow modules)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MVP; phase scope; confirm with mentor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misunderstanding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on active workflows, not static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Medication-safety errors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states, missed-dose logs, allergy checks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Sensitive-data exposure (HIPAA)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view limits, immutable audit logs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Acuity-blind staffing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 scheduling to care level / acuity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 pharmacy/insurance/IoT to Phase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CNA adoption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mobile UI, minimal typing, color alerts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8A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items to resolve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làm rõ với mentor trước khi đặc tả yêu cầu chi tiết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2075688"/>
            <a:ext cx="868680" cy="329184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20756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1783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type — Assisted Living, SNF, or both?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36792" y="2075688"/>
            <a:ext cx="868680" cy="329184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/>
        </p:spPr>
      </p:sp>
      <p:sp>
        <p:nvSpPr>
          <p:cNvPr id="12" name="Text 9"/>
          <p:cNvSpPr/>
          <p:nvPr/>
        </p:nvSpPr>
        <p:spPr>
          <a:xfrm>
            <a:off x="6336792" y="20756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60920" y="1783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simulate vs model real HIPAA/MDS/PDPM/EDI?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862072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" y="3154680"/>
            <a:ext cx="868680" cy="329184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1546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737360" y="286207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Level: auto / manual / suggest + confirm?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72200" y="2862072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6792" y="3154680"/>
            <a:ext cx="868680" cy="329184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/>
        </p:spPr>
      </p:sp>
      <p:sp>
        <p:nvSpPr>
          <p:cNvPr id="20" name="Text 17"/>
          <p:cNvSpPr/>
          <p:nvPr/>
        </p:nvSpPr>
        <p:spPr>
          <a:xfrm>
            <a:off x="6336792" y="31546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OI-09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60920" y="286207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Invoicing: fixed package vs dynamic by care tier?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3941064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4233672"/>
            <a:ext cx="868680" cy="329184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4233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OI-10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737360" y="394106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Portal: full charts or summaries only?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72200" y="3941064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36792" y="4233672"/>
            <a:ext cx="868680" cy="329184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/>
        </p:spPr>
      </p:sp>
      <p:sp>
        <p:nvSpPr>
          <p:cNvPr id="28" name="Text 25"/>
          <p:cNvSpPr/>
          <p:nvPr/>
        </p:nvSpPr>
        <p:spPr>
          <a:xfrm>
            <a:off x="6336792" y="4233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OI-01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60920" y="394106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goals: quantified KPIs or qualitative?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48640" y="5020056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13232" y="5312664"/>
            <a:ext cx="868680" cy="329184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/>
        </p:spPr>
      </p:sp>
      <p:sp>
        <p:nvSpPr>
          <p:cNvPr id="32" name="Text 29"/>
          <p:cNvSpPr/>
          <p:nvPr/>
        </p:nvSpPr>
        <p:spPr>
          <a:xfrm>
            <a:off x="713232" y="53126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737360" y="50200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targets (uptime, concurrency, retention)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020056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88900" dist="38100" dir="8100000">
              <a:srgbClr val="0F2A3F">
                <a:alpha val="16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336792" y="5312664"/>
            <a:ext cx="868680" cy="329184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/>
        </p:spPr>
      </p:sp>
      <p:sp>
        <p:nvSpPr>
          <p:cNvPr id="36" name="Text 33"/>
          <p:cNvSpPr/>
          <p:nvPr/>
        </p:nvSpPr>
        <p:spPr>
          <a:xfrm>
            <a:off x="6336792" y="53126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OI-12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60920" y="50200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migration / training / cutover in scope?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NHMS — Phase 1 Final Discovery Knowledge</dc:title>
  <dc:subject>PptxGenJS Presentation</dc:subject>
  <dc:creator>BA Team — MockProject_062026</dc:creator>
  <cp:lastModifiedBy>BA Team — MockProject_062026</cp:lastModifiedBy>
  <cp:revision>1</cp:revision>
  <dcterms:created xsi:type="dcterms:W3CDTF">2026-06-27T15:02:00Z</dcterms:created>
  <dcterms:modified xsi:type="dcterms:W3CDTF">2026-06-27T15:02:00Z</dcterms:modified>
</cp:coreProperties>
</file>